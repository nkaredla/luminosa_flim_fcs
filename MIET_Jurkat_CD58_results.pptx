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87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Room temperature</c:v>
                </c:pt>
              </c:strCache>
            </c:strRef>
          </c:tx>
          <c:spPr>
            <a:solidFill>
              <a:srgbClr val="12545A"/>
            </a:solidFill>
            <a:ln w="9525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cat>
            <c:strRef>
              <c:f>Sheet1!$A$2:$A$18</c:f>
              <c:strCache>
                <c:ptCount val="17"/>
                <c:pt idx="0">
                  <c:v>151013</c:v>
                </c:pt>
                <c:pt idx="1">
                  <c:v>145800</c:v>
                </c:pt>
                <c:pt idx="2">
                  <c:v>144242</c:v>
                </c:pt>
                <c:pt idx="3">
                  <c:v>143434</c:v>
                </c:pt>
                <c:pt idx="4">
                  <c:v>142754</c:v>
                </c:pt>
                <c:pt idx="5">
                  <c:v>141031</c:v>
                </c:pt>
                <c:pt idx="6">
                  <c:v>135856</c:v>
                </c:pt>
                <c:pt idx="7">
                  <c:v>134759</c:v>
                </c:pt>
                <c:pt idx="8">
                  <c:v>133830</c:v>
                </c:pt>
                <c:pt idx="9">
                  <c:v>133049</c:v>
                </c:pt>
                <c:pt idx="10">
                  <c:v>132419</c:v>
                </c:pt>
                <c:pt idx="11">
                  <c:v>164910</c:v>
                </c:pt>
                <c:pt idx="12">
                  <c:v>164117</c:v>
                </c:pt>
                <c:pt idx="13">
                  <c:v>162124</c:v>
                </c:pt>
                <c:pt idx="14">
                  <c:v>160712</c:v>
                </c:pt>
                <c:pt idx="15">
                  <c:v>155849</c:v>
                </c:pt>
                <c:pt idx="16">
                  <c:v>155036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-22</c:v>
                </c:pt>
                <c:pt idx="12">
                  <c:v>-30</c:v>
                </c:pt>
                <c:pt idx="13">
                  <c:v>-12</c:v>
                </c:pt>
                <c:pt idx="14">
                  <c:v>-35</c:v>
                </c:pt>
                <c:pt idx="15">
                  <c:v>-17</c:v>
                </c:pt>
                <c:pt idx="16">
                  <c:v>-13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09-4675-86AE-E5F9F18EA1B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Prepared at 4 °C</c:v>
                </c:pt>
              </c:strCache>
            </c:strRef>
          </c:tx>
          <c:spPr>
            <a:solidFill>
              <a:srgbClr val="8A6110"/>
            </a:solidFill>
            <a:ln w="9525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cat>
            <c:strRef>
              <c:f>Sheet1!$A$2:$A$18</c:f>
              <c:strCache>
                <c:ptCount val="17"/>
                <c:pt idx="0">
                  <c:v>151013</c:v>
                </c:pt>
                <c:pt idx="1">
                  <c:v>145800</c:v>
                </c:pt>
                <c:pt idx="2">
                  <c:v>144242</c:v>
                </c:pt>
                <c:pt idx="3">
                  <c:v>143434</c:v>
                </c:pt>
                <c:pt idx="4">
                  <c:v>142754</c:v>
                </c:pt>
                <c:pt idx="5">
                  <c:v>141031</c:v>
                </c:pt>
                <c:pt idx="6">
                  <c:v>135856</c:v>
                </c:pt>
                <c:pt idx="7">
                  <c:v>134759</c:v>
                </c:pt>
                <c:pt idx="8">
                  <c:v>133830</c:v>
                </c:pt>
                <c:pt idx="9">
                  <c:v>133049</c:v>
                </c:pt>
                <c:pt idx="10">
                  <c:v>132419</c:v>
                </c:pt>
                <c:pt idx="11">
                  <c:v>164910</c:v>
                </c:pt>
                <c:pt idx="12">
                  <c:v>164117</c:v>
                </c:pt>
                <c:pt idx="13">
                  <c:v>162124</c:v>
                </c:pt>
                <c:pt idx="14">
                  <c:v>160712</c:v>
                </c:pt>
                <c:pt idx="15">
                  <c:v>155849</c:v>
                </c:pt>
                <c:pt idx="16">
                  <c:v>155036</c:v>
                </c:pt>
              </c:strCache>
            </c:strRef>
          </c:cat>
          <c:val>
            <c:numRef>
              <c:f>Sheet1!$C$2:$C$18</c:f>
              <c:numCache>
                <c:formatCode>General</c:formatCode>
                <c:ptCount val="17"/>
                <c:pt idx="0">
                  <c:v>52</c:v>
                </c:pt>
                <c:pt idx="1">
                  <c:v>21</c:v>
                </c:pt>
                <c:pt idx="2">
                  <c:v>-12</c:v>
                </c:pt>
                <c:pt idx="3">
                  <c:v>38</c:v>
                </c:pt>
                <c:pt idx="4">
                  <c:v>42</c:v>
                </c:pt>
                <c:pt idx="5">
                  <c:v>6</c:v>
                </c:pt>
                <c:pt idx="6">
                  <c:v>-46</c:v>
                </c:pt>
                <c:pt idx="7">
                  <c:v>9</c:v>
                </c:pt>
                <c:pt idx="8">
                  <c:v>46</c:v>
                </c:pt>
                <c:pt idx="9">
                  <c:v>40</c:v>
                </c:pt>
                <c:pt idx="10">
                  <c:v>45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B09-4675-86AE-E5F9F18EA1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9676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"/>
          <c:min val="-60"/>
        </c:scaling>
        <c:delete val="0"/>
        <c:axPos val="b"/>
        <c:majorGridlines>
          <c:spPr>
            <a:ln w="12700" cap="flat">
              <a:solidFill>
                <a:srgbClr val="E7EC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96766"/>
                    </a:solidFill>
                    <a:latin typeface="Arial"/>
                  </a:defRPr>
                </a:pPr>
                <a:r>
                  <a:rPr lang="en-GB" sz="1100" b="0" i="0" u="none" strike="noStrike">
                    <a:solidFill>
                      <a:srgbClr val="596766"/>
                    </a:solidFill>
                    <a:latin typeface="Arial"/>
                  </a:rPr>
                  <a:t>core − rim   [nm]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9676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596766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1229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MIET height maps of Jurkat T cells on CD58 bilayers over a 15 nm gold film. Three findings at three confidence levels. All numbers from the h2_rnd_t220 calibration variant.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Layer stack: glass / 2 nm Ti / 15 nm Au / 2 nm Ti / 20 nm SiO2 / water. Random dipole orientation assumed, f = 1/3.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Restricting to the six cold cells above 30 % inversion keeps the direction but weakens it to p = 0.030. RT cells also spread over about 65 % more area, 89 vs 54 square microns.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figure stacks three registered layers: height surface in relief, the same height map as a flat projection, and the CD58 image of the bilayer at the bottom. One shared footprint outline.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of the four contact-bearing cells are cold-prepared. Three have unusually low median heights at 19, 28 and 56 nm against about 74 nm across the set; the fourth contributes a single region covering 0.4 % of its footprint.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Null: each region rotated about the footprint centroid through a random admissible angle, 2000 trials, CD58 held fixed. Statistic normalised by the whole-footprint mean, because independently rotated regions can overlap and a mask-complement denominator biases the null. 133830 depletion p = 0.0070.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51 cross-section figures on disk, one per cell per binning. Band and along-cut statistics are medians because the calibration flattens near tau_0.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per-cell table, also written as one CSV per preparation next to the figures.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950976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80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METAL-INDUCED ENERGY TRANSFER ON SLB – </a:t>
            </a:r>
            <a:r>
              <a:rPr lang="en-US" b="1" kern="0" spc="180" dirty="0" err="1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Jurkat</a:t>
            </a:r>
            <a:r>
              <a:rPr lang="en-US" b="1" kern="0" spc="180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cell system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Membrane topography of</a:t>
            </a:r>
            <a:endParaRPr lang="en-US" sz="42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Jurkat cells on CD58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42816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9CA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maps of 17 cells on CD58-functionalised supported bilayers over gold, and a test of whether close membrane contacts coincide with CD58 clusters.</a:t>
            </a:r>
            <a:endParaRPr lang="en-US" dirty="0"/>
          </a:p>
        </p:txBody>
      </p:sp>
      <p:sp>
        <p:nvSpPr>
          <p:cNvPr id="5" name="Text 3"/>
          <p:cNvSpPr txBox="1"/>
          <p:nvPr/>
        </p:nvSpPr>
        <p:spPr>
          <a:xfrm>
            <a:off x="9631680" y="173736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9631680" y="19933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 two preparations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31680" y="269748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9631680" y="295351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τ0 2.20 ns, qy 0.227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631680" y="358444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631680" y="384048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4×4 sliding TCSPC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9631680" y="454456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ACQUIRED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9631680" y="48006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Aug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80" dirty="0">
                <a:solidFill>
                  <a:srgbClr val="8A6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MEASUREMENT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11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Lifetime becomes height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14400" y="5504688"/>
            <a:ext cx="2880360" cy="475488"/>
          </a:xfrm>
          <a:prstGeom prst="rect">
            <a:avLst/>
          </a:prstGeom>
          <a:solidFill>
            <a:srgbClr val="E3E9E7"/>
          </a:solidFill>
          <a:ln w="6350">
            <a:solidFill>
              <a:srgbClr val="C9D2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 txBox="1"/>
          <p:nvPr/>
        </p:nvSpPr>
        <p:spPr>
          <a:xfrm>
            <a:off x="3941064" y="562356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96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  n 1.52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5367528"/>
            <a:ext cx="2880360" cy="137160"/>
          </a:xfrm>
          <a:prstGeom prst="rect">
            <a:avLst/>
          </a:prstGeom>
          <a:solidFill>
            <a:srgbClr val="8A9997"/>
          </a:solidFill>
          <a:ln w="6350">
            <a:solidFill>
              <a:srgbClr val="C9D2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 txBox="1"/>
          <p:nvPr/>
        </p:nvSpPr>
        <p:spPr>
          <a:xfrm>
            <a:off x="3941064" y="531723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96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 2 nm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4828032"/>
            <a:ext cx="2880360" cy="539496"/>
          </a:xfrm>
          <a:prstGeom prst="rect">
            <a:avLst/>
          </a:prstGeom>
          <a:solidFill>
            <a:srgbClr val="8A6110"/>
          </a:solidFill>
          <a:ln w="6350">
            <a:solidFill>
              <a:srgbClr val="C9D2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 txBox="1"/>
          <p:nvPr/>
        </p:nvSpPr>
        <p:spPr>
          <a:xfrm>
            <a:off x="3941064" y="497890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A6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15 nm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4400" y="4690872"/>
            <a:ext cx="2880360" cy="137160"/>
          </a:xfrm>
          <a:prstGeom prst="rect">
            <a:avLst/>
          </a:prstGeom>
          <a:solidFill>
            <a:srgbClr val="8A9997"/>
          </a:solidFill>
          <a:ln w="6350">
            <a:solidFill>
              <a:srgbClr val="C9D2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 txBox="1"/>
          <p:nvPr/>
        </p:nvSpPr>
        <p:spPr>
          <a:xfrm>
            <a:off x="3941064" y="464058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96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 2 nm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14400" y="4041648"/>
            <a:ext cx="2880360" cy="649224"/>
          </a:xfrm>
          <a:prstGeom prst="rect">
            <a:avLst/>
          </a:prstGeom>
          <a:solidFill>
            <a:srgbClr val="E3E9E7"/>
          </a:solidFill>
          <a:ln w="6350">
            <a:solidFill>
              <a:srgbClr val="C9D2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 txBox="1"/>
          <p:nvPr/>
        </p:nvSpPr>
        <p:spPr>
          <a:xfrm>
            <a:off x="3941064" y="424738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96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SiO2 20 nm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14400" y="3877056"/>
            <a:ext cx="2880360" cy="82296"/>
          </a:xfrm>
          <a:prstGeom prst="rect">
            <a:avLst/>
          </a:prstGeom>
          <a:solidFill>
            <a:srgbClr val="12545A"/>
          </a:solidFill>
          <a:ln w="12700">
            <a:solidFill>
              <a:srgbClr val="1254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1280160" y="3694176"/>
            <a:ext cx="128016" cy="128016"/>
          </a:xfrm>
          <a:prstGeom prst="ellipse">
            <a:avLst/>
          </a:prstGeom>
          <a:solidFill>
            <a:srgbClr val="12545A"/>
          </a:solidFill>
          <a:ln w="12700">
            <a:solidFill>
              <a:srgbClr val="1254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1920240" y="3694176"/>
            <a:ext cx="128016" cy="128016"/>
          </a:xfrm>
          <a:prstGeom prst="ellipse">
            <a:avLst/>
          </a:prstGeom>
          <a:solidFill>
            <a:srgbClr val="12545A"/>
          </a:solidFill>
          <a:ln w="12700">
            <a:solidFill>
              <a:srgbClr val="1254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2606040" y="3694176"/>
            <a:ext cx="128016" cy="128016"/>
          </a:xfrm>
          <a:prstGeom prst="ellipse">
            <a:avLst/>
          </a:prstGeom>
          <a:solidFill>
            <a:srgbClr val="12545A"/>
          </a:solidFill>
          <a:ln w="12700">
            <a:solidFill>
              <a:srgbClr val="1254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3291840" y="3694176"/>
            <a:ext cx="128016" cy="128016"/>
          </a:xfrm>
          <a:prstGeom prst="ellipse">
            <a:avLst/>
          </a:prstGeom>
          <a:solidFill>
            <a:srgbClr val="12545A"/>
          </a:solidFill>
          <a:ln w="12700">
            <a:solidFill>
              <a:srgbClr val="1254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 txBox="1"/>
          <p:nvPr/>
        </p:nvSpPr>
        <p:spPr>
          <a:xfrm>
            <a:off x="3941064" y="378561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5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bilayer + CD58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14400" y="2487168"/>
            <a:ext cx="2880360" cy="82296"/>
          </a:xfrm>
          <a:prstGeom prst="rect">
            <a:avLst/>
          </a:prstGeom>
          <a:solidFill>
            <a:srgbClr val="8A3529"/>
          </a:solidFill>
          <a:ln w="12700">
            <a:solidFill>
              <a:srgbClr val="8A352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 txBox="1"/>
          <p:nvPr/>
        </p:nvSpPr>
        <p:spPr>
          <a:xfrm>
            <a:off x="3941064" y="239572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3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membrane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14400" y="204825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6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 n 1.33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58368" y="2569464"/>
            <a:ext cx="0" cy="1307592"/>
          </a:xfrm>
          <a:prstGeom prst="line">
            <a:avLst/>
          </a:prstGeom>
          <a:noFill/>
          <a:ln w="12700">
            <a:solidFill>
              <a:srgbClr val="596766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 txBox="1"/>
          <p:nvPr/>
        </p:nvSpPr>
        <p:spPr>
          <a:xfrm>
            <a:off x="201168" y="31089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i="1" dirty="0">
                <a:solidFill>
                  <a:srgbClr val="11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914400" y="60807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96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Thicknesses labelled, not to scale.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720840" y="1773936"/>
            <a:ext cx="137160" cy="137160"/>
          </a:xfrm>
          <a:prstGeom prst="ellipse">
            <a:avLst/>
          </a:prstGeom>
          <a:solidFill>
            <a:srgbClr val="8A6110"/>
          </a:solidFill>
          <a:ln w="12700">
            <a:solidFill>
              <a:srgbClr val="8A611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 txBox="1"/>
          <p:nvPr/>
        </p:nvSpPr>
        <p:spPr>
          <a:xfrm>
            <a:off x="7031736" y="1691640"/>
            <a:ext cx="4535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1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quenches over the first ~100 nm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7031736" y="2002536"/>
            <a:ext cx="45354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596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 falls steeply with distance to the metal. Inverting that dependence gives a height per pixel.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720840" y="3145536"/>
            <a:ext cx="137160" cy="137160"/>
          </a:xfrm>
          <a:prstGeom prst="ellipse">
            <a:avLst/>
          </a:prstGeom>
          <a:solidFill>
            <a:srgbClr val="12545A"/>
          </a:solidFill>
          <a:ln w="12700">
            <a:solidFill>
              <a:srgbClr val="1254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 txBox="1"/>
          <p:nvPr/>
        </p:nvSpPr>
        <p:spPr>
          <a:xfrm>
            <a:off x="7031736" y="3063240"/>
            <a:ext cx="4535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1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dyes, one scan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7031736" y="3374136"/>
            <a:ext cx="45354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596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MemGlow on the membrane in the 640 nm window, CD58–Atto488 on the bilayer in the 485 nm window. Perfectly registered — same pixels, no alignment step.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720840" y="4791456"/>
            <a:ext cx="137160" cy="137160"/>
          </a:xfrm>
          <a:prstGeom prst="ellipse">
            <a:avLst/>
          </a:prstGeom>
          <a:solidFill>
            <a:srgbClr val="8A3529"/>
          </a:solidFill>
          <a:ln w="12700">
            <a:solidFill>
              <a:srgbClr val="8A352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 txBox="1"/>
          <p:nvPr/>
        </p:nvSpPr>
        <p:spPr>
          <a:xfrm>
            <a:off x="7031736" y="4709160"/>
            <a:ext cx="4535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1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Anchored on the bilayer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7031736" y="5020056"/>
            <a:ext cx="45354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596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uniformly labelled SLB, about 4 nm above the silica, fixes the quantum yield and free-space lifetime.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041648" cy="292608"/>
          </a:xfrm>
          <a:prstGeom prst="roundRect">
            <a:avLst>
              <a:gd name="adj" fmla="val 15625"/>
            </a:avLst>
          </a:prstGeom>
          <a:solidFill>
            <a:srgbClr val="F0E6CE"/>
          </a:solidFill>
          <a:ln w="12700">
            <a:solidFill>
              <a:srgbClr val="F0E6C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502920" y="457200"/>
            <a:ext cx="4041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20" dirty="0">
                <a:solidFill>
                  <a:srgbClr val="8A6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  ·  EXPLORATORY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96112"/>
            <a:ext cx="7589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11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Room-temperature cells flatten in the middle.</a:t>
            </a:r>
            <a:endParaRPr lang="en-US" sz="260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11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Cold-prepared cells do the opposite.</a:t>
            </a:r>
            <a:endParaRPr lang="en-US" sz="26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11480" y="1965960"/>
          <a:ext cx="758952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8229600" y="1965960"/>
            <a:ext cx="3474720" cy="1207008"/>
          </a:xfrm>
          <a:prstGeom prst="rect">
            <a:avLst/>
          </a:prstGeom>
          <a:solidFill>
            <a:srgbClr val="F1F4F3"/>
          </a:solidFill>
          <a:ln w="12700">
            <a:solidFill>
              <a:srgbClr val="F1F4F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 txBox="1"/>
          <p:nvPr/>
        </p:nvSpPr>
        <p:spPr>
          <a:xfrm>
            <a:off x="8430768" y="2093976"/>
            <a:ext cx="3072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5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−21.6 nm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8430768" y="2679192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96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 core − rim, mean.  6 of 6 negative.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229600" y="3337560"/>
            <a:ext cx="3474720" cy="1207008"/>
          </a:xfrm>
          <a:prstGeom prst="rect">
            <a:avLst/>
          </a:prstGeom>
          <a:solidFill>
            <a:srgbClr val="F1F4F3"/>
          </a:solidFill>
          <a:ln w="12700">
            <a:solidFill>
              <a:srgbClr val="F1F4F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 txBox="1"/>
          <p:nvPr/>
        </p:nvSpPr>
        <p:spPr>
          <a:xfrm>
            <a:off x="8430768" y="3465576"/>
            <a:ext cx="3072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A61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+22.0 nm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8430768" y="4050792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96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°C core − rim, mean.  2 of 11 negative.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229600" y="4709160"/>
            <a:ext cx="3474720" cy="1207008"/>
          </a:xfrm>
          <a:prstGeom prst="rect">
            <a:avLst/>
          </a:prstGeom>
          <a:solidFill>
            <a:srgbClr val="F1F4F3"/>
          </a:solidFill>
          <a:ln w="12700">
            <a:solidFill>
              <a:srgbClr val="F1F4F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 txBox="1"/>
          <p:nvPr/>
        </p:nvSpPr>
        <p:spPr>
          <a:xfrm>
            <a:off x="8430768" y="4837176"/>
            <a:ext cx="3072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0.0023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8430768" y="5422392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96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Fisher exact, one-sided, on the sign.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0" y="60350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96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= beyond 55 % of the way in from the footprint edge; rim = outer 20 %. Metric chosen after seeing the maps, and the 4 °C maps invert far fewer pixels — hence exploratory.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80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1323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two geometries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813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63B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TEMPERATURE  ·  162124</a:t>
            </a:r>
            <a:endParaRPr lang="en-US" sz="1000" dirty="0"/>
          </a:p>
        </p:txBody>
      </p:sp>
      <p:pic>
        <p:nvPicPr>
          <p:cNvPr id="5" name="Image 0" descr="C:/Users/narai/AppData/Local/Temp/claude/D--MATLAB-server-Luminosa-Luminosa-FLIM-FCS/02917132-2465-46bf-a138-5be0b109ce87/scratchpad/topo_r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83080"/>
            <a:ext cx="5486400" cy="32644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5175504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CA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67 nm against a rim at 80 nm, dipping to 54 nm at its lowest decile. The best-conditioned map in the set — 90 % of pixels invert. No pixel reaches the 30 nm contact threshold.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6199632" y="14813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AT 4 °C  ·  133830</a:t>
            </a:r>
            <a:endParaRPr lang="en-US" sz="1000" dirty="0"/>
          </a:p>
        </p:txBody>
      </p:sp>
      <p:pic>
        <p:nvPicPr>
          <p:cNvPr id="8" name="Image 1" descr="C:/Users/narai/AppData/Local/Temp/claude/D--MATLAB-server-Luminosa-Luminosa-FLIM-FCS/02917132-2465-46bf-a138-5be0b109ce87/scratchpad/topo_4c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632" y="1783080"/>
            <a:ext cx="5486400" cy="326440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199632" y="5175504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CA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inverse — a rugged interior near 65 nm falling to 18 nm at the rim. Only 33 % of pixels invert, so the surface is partly interpolated, as stated on the figure.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310128" cy="292608"/>
          </a:xfrm>
          <a:prstGeom prst="roundRect">
            <a:avLst>
              <a:gd name="adj" fmla="val 15625"/>
            </a:avLst>
          </a:prstGeom>
          <a:solidFill>
            <a:srgbClr val="D6E5E6"/>
          </a:solidFill>
          <a:ln w="12700">
            <a:solidFill>
              <a:srgbClr val="D6E5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502920" y="457200"/>
            <a:ext cx="3310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20" dirty="0">
                <a:solidFill>
                  <a:srgbClr val="125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  ·  ROBUST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96112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11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Membrane closer than 30 nm is rare.</a:t>
            </a:r>
            <a:endParaRPr lang="en-US" sz="260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11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Thirteen of seventeen cells have none at all.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487168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125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96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404164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96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17 cells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433425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96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any contact region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926080" y="235000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30" dirty="0">
                <a:solidFill>
                  <a:srgbClr val="8A6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AT 4 °C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926080" y="2697480"/>
            <a:ext cx="402336" cy="402336"/>
          </a:xfrm>
          <a:prstGeom prst="ellipse">
            <a:avLst/>
          </a:prstGeom>
          <a:solidFill>
            <a:srgbClr val="F1F4F3"/>
          </a:solidFill>
          <a:ln w="12700">
            <a:solidFill>
              <a:srgbClr val="D3DB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3419856" y="2697480"/>
            <a:ext cx="402336" cy="402336"/>
          </a:xfrm>
          <a:prstGeom prst="ellipse">
            <a:avLst/>
          </a:prstGeom>
          <a:solidFill>
            <a:srgbClr val="8A6110"/>
          </a:solidFill>
          <a:ln w="12700">
            <a:solidFill>
              <a:srgbClr val="8A611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 txBox="1"/>
          <p:nvPr/>
        </p:nvSpPr>
        <p:spPr>
          <a:xfrm>
            <a:off x="3273552" y="3154680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A6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133049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913632" y="2697480"/>
            <a:ext cx="402336" cy="402336"/>
          </a:xfrm>
          <a:prstGeom prst="ellipse">
            <a:avLst/>
          </a:prstGeom>
          <a:solidFill>
            <a:srgbClr val="8A6110"/>
          </a:solidFill>
          <a:ln w="12700">
            <a:solidFill>
              <a:srgbClr val="8A611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 txBox="1"/>
          <p:nvPr/>
        </p:nvSpPr>
        <p:spPr>
          <a:xfrm>
            <a:off x="3767328" y="3154680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A6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133830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407408" y="2697480"/>
            <a:ext cx="402336" cy="402336"/>
          </a:xfrm>
          <a:prstGeom prst="ellipse">
            <a:avLst/>
          </a:prstGeom>
          <a:solidFill>
            <a:srgbClr val="F1F4F3"/>
          </a:solidFill>
          <a:ln w="12700">
            <a:solidFill>
              <a:srgbClr val="D3DB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4901184" y="2697480"/>
            <a:ext cx="402336" cy="402336"/>
          </a:xfrm>
          <a:prstGeom prst="ellipse">
            <a:avLst/>
          </a:prstGeom>
          <a:solidFill>
            <a:srgbClr val="F1F4F3"/>
          </a:solidFill>
          <a:ln w="12700">
            <a:solidFill>
              <a:srgbClr val="D3DB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5394960" y="2697480"/>
            <a:ext cx="402336" cy="402336"/>
          </a:xfrm>
          <a:prstGeom prst="ellipse">
            <a:avLst/>
          </a:prstGeom>
          <a:solidFill>
            <a:srgbClr val="F1F4F3"/>
          </a:solidFill>
          <a:ln w="12700">
            <a:solidFill>
              <a:srgbClr val="D3DB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5888736" y="2697480"/>
            <a:ext cx="402336" cy="402336"/>
          </a:xfrm>
          <a:prstGeom prst="ellipse">
            <a:avLst/>
          </a:prstGeom>
          <a:solidFill>
            <a:srgbClr val="F1F4F3"/>
          </a:solidFill>
          <a:ln w="12700">
            <a:solidFill>
              <a:srgbClr val="D3DB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6382512" y="2697480"/>
            <a:ext cx="402336" cy="402336"/>
          </a:xfrm>
          <a:prstGeom prst="ellipse">
            <a:avLst/>
          </a:prstGeom>
          <a:solidFill>
            <a:srgbClr val="F1F4F3"/>
          </a:solidFill>
          <a:ln w="12700">
            <a:solidFill>
              <a:srgbClr val="D3DB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6876288" y="2697480"/>
            <a:ext cx="402336" cy="402336"/>
          </a:xfrm>
          <a:prstGeom prst="ellipse">
            <a:avLst/>
          </a:prstGeom>
          <a:solidFill>
            <a:srgbClr val="F1F4F3"/>
          </a:solidFill>
          <a:ln w="12700">
            <a:solidFill>
              <a:srgbClr val="D3DB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7370064" y="2697480"/>
            <a:ext cx="402336" cy="402336"/>
          </a:xfrm>
          <a:prstGeom prst="ellipse">
            <a:avLst/>
          </a:prstGeom>
          <a:solidFill>
            <a:srgbClr val="F1F4F3"/>
          </a:solidFill>
          <a:ln w="12700">
            <a:solidFill>
              <a:srgbClr val="D3DB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7863840" y="2697480"/>
            <a:ext cx="402336" cy="402336"/>
          </a:xfrm>
          <a:prstGeom prst="ellipse">
            <a:avLst/>
          </a:prstGeom>
          <a:solidFill>
            <a:srgbClr val="8A6110"/>
          </a:solidFill>
          <a:ln w="12700">
            <a:solidFill>
              <a:srgbClr val="8A611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 txBox="1"/>
          <p:nvPr/>
        </p:nvSpPr>
        <p:spPr>
          <a:xfrm>
            <a:off x="7717536" y="3154680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A6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151013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2926080" y="372160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30" dirty="0">
                <a:solidFill>
                  <a:srgbClr val="125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TEMPERATURE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926080" y="4069080"/>
            <a:ext cx="402336" cy="402336"/>
          </a:xfrm>
          <a:prstGeom prst="ellipse">
            <a:avLst/>
          </a:prstGeom>
          <a:solidFill>
            <a:srgbClr val="F1F4F3"/>
          </a:solidFill>
          <a:ln w="12700">
            <a:solidFill>
              <a:srgbClr val="D3DB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3419856" y="4069080"/>
            <a:ext cx="402336" cy="402336"/>
          </a:xfrm>
          <a:prstGeom prst="ellipse">
            <a:avLst/>
          </a:prstGeom>
          <a:solidFill>
            <a:srgbClr val="F1F4F3"/>
          </a:solidFill>
          <a:ln w="12700">
            <a:solidFill>
              <a:srgbClr val="D3DB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3913632" y="4069080"/>
            <a:ext cx="402336" cy="402336"/>
          </a:xfrm>
          <a:prstGeom prst="ellipse">
            <a:avLst/>
          </a:prstGeom>
          <a:solidFill>
            <a:srgbClr val="F1F4F3"/>
          </a:solidFill>
          <a:ln w="12700">
            <a:solidFill>
              <a:srgbClr val="D3DB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4407408" y="4069080"/>
            <a:ext cx="402336" cy="402336"/>
          </a:xfrm>
          <a:prstGeom prst="ellipse">
            <a:avLst/>
          </a:prstGeom>
          <a:solidFill>
            <a:srgbClr val="F1F4F3"/>
          </a:solidFill>
          <a:ln w="12700">
            <a:solidFill>
              <a:srgbClr val="D3DB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4901184" y="4069080"/>
            <a:ext cx="402336" cy="402336"/>
          </a:xfrm>
          <a:prstGeom prst="ellipse">
            <a:avLst/>
          </a:prstGeom>
          <a:solidFill>
            <a:srgbClr val="F1F4F3"/>
          </a:solidFill>
          <a:ln w="12700">
            <a:solidFill>
              <a:srgbClr val="D3DB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5394960" y="4069080"/>
            <a:ext cx="402336" cy="402336"/>
          </a:xfrm>
          <a:prstGeom prst="ellipse">
            <a:avLst/>
          </a:prstGeom>
          <a:solidFill>
            <a:srgbClr val="12545A"/>
          </a:solidFill>
          <a:ln w="12700">
            <a:solidFill>
              <a:srgbClr val="1254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 txBox="1"/>
          <p:nvPr/>
        </p:nvSpPr>
        <p:spPr>
          <a:xfrm>
            <a:off x="5248656" y="4526280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25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164910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2926080" y="48280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96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= contact regions found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595360" y="1947672"/>
            <a:ext cx="3108960" cy="3223768"/>
          </a:xfrm>
          <a:prstGeom prst="rect">
            <a:avLst/>
          </a:prstGeom>
          <a:solidFill>
            <a:srgbClr val="F1F4F3"/>
          </a:solidFill>
          <a:ln w="12700">
            <a:solidFill>
              <a:srgbClr val="F1F4F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 txBox="1"/>
          <p:nvPr/>
        </p:nvSpPr>
        <p:spPr>
          <a:xfrm>
            <a:off x="8732520" y="20894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we use one fixed height  threshold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8823960" y="2889504"/>
            <a:ext cx="2651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596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is a physical claim, so the cut stays a number in nanometres, identical for every cell and printed on every figure.</a:t>
            </a:r>
            <a:endParaRPr lang="en-US" sz="1600" dirty="0"/>
          </a:p>
          <a:p>
            <a:pPr marL="0" indent="0">
              <a:lnSpc>
                <a:spcPct val="108000"/>
              </a:lnSpc>
              <a:buNone/>
            </a:pPr>
            <a:endParaRPr lang="en-US" sz="16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596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per-cell adaptive cut would have produced regions in all seventeen, which would turn an absence of contact point into a dataset.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502920" y="56235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96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region found sits within a few pixels of the footprint edge — at 30 nm this finds the lamellipodial rim, not interior contacts.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602736" cy="292608"/>
          </a:xfrm>
          <a:prstGeom prst="roundRect">
            <a:avLst>
              <a:gd name="adj" fmla="val 15625"/>
            </a:avLst>
          </a:prstGeom>
          <a:solidFill>
            <a:srgbClr val="F2DBD6"/>
          </a:solidFill>
          <a:ln w="12700">
            <a:solidFill>
              <a:srgbClr val="F2DBD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502920" y="457200"/>
            <a:ext cx="3602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20" dirty="0">
                <a:solidFill>
                  <a:srgbClr val="8A3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  ·  NEGATIVE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96112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11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cell shows CD58 enriched at its contacts.</a:t>
            </a:r>
            <a:endParaRPr lang="en-US" sz="2600" dirty="0"/>
          </a:p>
        </p:txBody>
      </p:sp>
      <p:pic>
        <p:nvPicPr>
          <p:cNvPr id="5" name="Image 0" descr="C:/Users/narai/AppData/Local/Temp/claude/D--MATLAB-server-Luminosa-Luminosa-FLIM-FCS/02917132-2465-46bf-a138-5be0b109ce87/scratchpad/contact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10512"/>
            <a:ext cx="7680960" cy="4087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59893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96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133830. Seven contact regions form a rim annulus and all seven CD58 clusters sit inside it, in the interior. The histogram is the rotation null.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8488680" y="1411224"/>
            <a:ext cx="3200400" cy="1207008"/>
          </a:xfrm>
          <a:prstGeom prst="rect">
            <a:avLst/>
          </a:prstGeom>
          <a:solidFill>
            <a:srgbClr val="F1F4F3"/>
          </a:solidFill>
          <a:ln w="12700">
            <a:solidFill>
              <a:srgbClr val="F1F4F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 txBox="1"/>
          <p:nvPr/>
        </p:nvSpPr>
        <p:spPr>
          <a:xfrm>
            <a:off x="8689848" y="1468120"/>
            <a:ext cx="27980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5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of 4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8689848" y="2053336"/>
            <a:ext cx="2798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96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contact-bearing cells enriched.  p ≥ 0.25 throughout.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488680" y="2727960"/>
            <a:ext cx="3200400" cy="1207008"/>
          </a:xfrm>
          <a:prstGeom prst="rect">
            <a:avLst/>
          </a:prstGeom>
          <a:solidFill>
            <a:srgbClr val="F1F4F3"/>
          </a:solidFill>
          <a:ln w="12700">
            <a:solidFill>
              <a:srgbClr val="F1F4F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 txBox="1"/>
          <p:nvPr/>
        </p:nvSpPr>
        <p:spPr>
          <a:xfrm>
            <a:off x="8689848" y="2784856"/>
            <a:ext cx="27980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5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of 12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8689848" y="3370072"/>
            <a:ext cx="2798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96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CD58 clusters inside a contact.  About 3 expected by area.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488680" y="4044696"/>
            <a:ext cx="3200400" cy="2295144"/>
          </a:xfrm>
          <a:prstGeom prst="rect">
            <a:avLst/>
          </a:prstGeom>
          <a:solidFill>
            <a:srgbClr val="F2DBD6"/>
          </a:solidFill>
          <a:ln w="12700">
            <a:solidFill>
              <a:srgbClr val="F2DBD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 txBox="1"/>
          <p:nvPr/>
        </p:nvSpPr>
        <p:spPr>
          <a:xfrm>
            <a:off x="8689848" y="4146296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3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depletion cannot be read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689848" y="4621784"/>
            <a:ext cx="27980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5E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cell body sits above the bilayer and attenuates the 485 nm path, so CD58 counts fall wherever the membrane is closer. That artefact produces depletion and only depletion — which is why the absent enrichment is trustworthy and the depletion is not.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02920" y="4846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1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Higher heights are noisier</a:t>
            </a:r>
            <a:endParaRPr lang="en-US" sz="3000" dirty="0"/>
          </a:p>
        </p:txBody>
      </p:sp>
      <p:pic>
        <p:nvPicPr>
          <p:cNvPr id="4" name="Image 0" descr="C:/Users/narai/AppData/Local/Temp/claude/D--MATLAB-server-Luminosa-Luminosa-FLIM-FCS/02917132-2465-46bf-a138-5be0b109ce87/scratchpad/profil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72768"/>
            <a:ext cx="7955280" cy="437997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603504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96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151013. Height on the left axis, CD58 on the right; one cut along x and one along y.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9011920" y="1380744"/>
            <a:ext cx="137160" cy="137160"/>
          </a:xfrm>
          <a:prstGeom prst="ellipse">
            <a:avLst/>
          </a:prstGeom>
          <a:solidFill>
            <a:srgbClr val="12545A"/>
          </a:solidFill>
          <a:ln w="12700">
            <a:solidFill>
              <a:srgbClr val="1254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 txBox="1"/>
          <p:nvPr/>
        </p:nvSpPr>
        <p:spPr>
          <a:xfrm>
            <a:off x="9322816" y="1298448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1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Medians, not means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9322816" y="1784096"/>
            <a:ext cx="26151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dirty="0">
                <a:solidFill>
                  <a:srgbClr val="596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dz/dτ reaches several hundred nm per ns near τ0, so the noise is heavy-tailed.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80" dirty="0">
                <a:solidFill>
                  <a:srgbClr val="8A6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CELL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132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1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17 cells, 4×4 sliding stage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51560" y="1371600"/>
          <a:ext cx="10104120" cy="4526280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5967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5967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Acquisition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5967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5967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 μm²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5967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nm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5967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nm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5967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Rim nm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5967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nm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5967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 regions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5967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Clusters in contact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254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967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155036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254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A8B5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5967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3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254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967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155849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254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A8B5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5967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254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967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160712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254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A8B5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5967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254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967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162124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254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A8B5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5967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254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967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164117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254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A8B5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5967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254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967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164910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254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5967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8A61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°C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967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132419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8A61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A8B5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5967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8A61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°C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967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133049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8A61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5967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8A61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°C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967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133830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8A61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5967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8A61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°C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967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134759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8A61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A8B5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5967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8A61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°C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967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135856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254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A8B5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5967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8A61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°C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967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141031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8A61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A8B5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5967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8A61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°C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967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142754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8A61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A8B5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5967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8A61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°C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967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143434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8A61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A8B5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5967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8A61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°C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967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144242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254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A8B5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5967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8A61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°C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967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145800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8A61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A8B5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5967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8A61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°C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967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151013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8A61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1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5967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051560" y="6053328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96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= core − rim. “Inv %” is the share of footprint pixels whose lifetime fell inside the invertible window; the rest carry no height. “4 °C” denotes samples prepared cold and measured at room temperature.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1283</Words>
  <Application>Microsoft Office PowerPoint</Application>
  <PresentationFormat>Widescreen</PresentationFormat>
  <Paragraphs>277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Jurkat membrane topography on CD58</dc:title>
  <dc:subject>PptxGenJS Presentation</dc:subject>
  <dc:creator>MIET analysis</dc:creator>
  <cp:lastModifiedBy>Narain Karedla</cp:lastModifiedBy>
  <cp:revision>3</cp:revision>
  <dcterms:created xsi:type="dcterms:W3CDTF">2026-08-31T18:58:48Z</dcterms:created>
  <dcterms:modified xsi:type="dcterms:W3CDTF">2026-08-31T23:32:51Z</dcterms:modified>
</cp:coreProperties>
</file>